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STREESHIELD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052560" y="6446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Deepfake Detection System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320040"/>
            <a:ext cx="2834640" cy="2834640"/>
          </a:xfrm>
          <a:prstGeom prst="arc">
            <a:avLst/>
          </a:prstGeom>
          <a:noFill/>
          <a:ln w="38100">
            <a:solidFill>
              <a:srgbClr val="2B6CB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914400"/>
            <a:ext cx="1920240" cy="1920240"/>
          </a:xfrm>
          <a:prstGeom prst="arc">
            <a:avLst/>
          </a:prstGeom>
          <a:noFill/>
          <a:ln w="25400">
            <a:solidFill>
              <a:srgbClr val="1B998B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STREESHIELD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9E8F5"/>
                </a:solidFill>
              </a:rPr>
              <a:t>Deepfake Detection System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9D8"/>
                </a:solidFill>
              </a:rPr>
              <a:t>Image-based CNN + Video-based 3D CNN + Streamlit Application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337560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5D"/>
                </a:solidFill>
              </a:rPr>
              <a:t>Final Project Presentation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983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2ED"/>
                </a:solidFill>
              </a:rPr>
              <a:t>End-to-end pipeline from dataset → models → web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440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Baseline result: Basic CNN performed better than the current 3D CNN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Why STREESHIELD was built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FCEDEC"/>
          </a:solidFill>
          <a:ln w="12700">
            <a:solidFill>
              <a:srgbClr val="FCED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</a:rPr>
              <a:t>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5486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Deepfakes can manipulate faces and video content so that visual evidence becomes difficult to trust.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Image-only analysis can miss temporal inconsistencies that appear across consecutive video frames.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system should support both individual images and uploaded videos.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234440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E8F6F3"/>
          </a:solidFill>
          <a:ln w="12700">
            <a:solidFill>
              <a:srgbClr val="E8F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664" y="130759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998B"/>
                </a:solidFill>
              </a:rPr>
              <a:t>OBJECTIVES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664208"/>
            <a:ext cx="507492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Basic CNN for image/face-level REAL vs FAKE classification.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3D CNN for 16-frame video-sequence classification.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both approaches using accuracy, precision, recall, F1-score and ROC-AUC.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both inference paths through a Streamlit interface.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654296"/>
            <a:ext cx="20939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Image analysis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Basic CNN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434340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E8F6F3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4654296"/>
            <a:ext cx="20939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Video analysis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3D CNN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15400" y="434340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8552" y="4654296"/>
            <a:ext cx="20939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Streamlit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User Interface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63240" y="4754880"/>
            <a:ext cx="1737360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32320" y="4754880"/>
            <a:ext cx="1691640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Complete STREESHIELD workflow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123B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057400"/>
            <a:ext cx="12710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Dataset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1828800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EAF2FB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1992" y="2057400"/>
            <a:ext cx="1453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0" y="18288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AF2FB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96512" y="2057400"/>
            <a:ext cx="12710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Image CNN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18288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8F6F3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2057400"/>
            <a:ext cx="12710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3D CNN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18288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123B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672" y="2057400"/>
            <a:ext cx="12710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72600" y="18288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3E0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45752" y="2057400"/>
            <a:ext cx="12710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Comparison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406908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23B5D"/>
          </a:solidFill>
          <a:ln w="15240">
            <a:solidFill>
              <a:srgbClr val="123B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4357116"/>
            <a:ext cx="17739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Streamlit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20240" y="2157984"/>
            <a:ext cx="182880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67328" y="2157984"/>
            <a:ext cx="210312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68112" y="2157984"/>
            <a:ext cx="292608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51192" y="2157984"/>
            <a:ext cx="292608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25128" y="2157984"/>
            <a:ext cx="301752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76688" y="2523744"/>
            <a:ext cx="-3035808" cy="1453896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26280" y="2743200"/>
            <a:ext cx="1051560" cy="118872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37960" y="2743200"/>
            <a:ext cx="-228600" cy="118872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703320" y="29077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Image path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9077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998B"/>
                </a:solidFill>
              </a:rPr>
              <a:t>Video path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5166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5D"/>
                </a:solidFill>
              </a:rPr>
              <a:t>Inputs → trained models → evaluation → deployment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Preprocessing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Two complementary data pipelines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0759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CB0"/>
                </a:solidFill>
              </a:rPr>
              <a:t>IMAGE 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51663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image dataset: REAL / FAKE face images.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CNN input: 128 × 128 × 3.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normalized to [0, 1].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Basic CNN test set: 398 images (198 REAL, 200 FAKE).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E8F6F3"/>
          </a:solidFill>
          <a:ln w="12700">
            <a:solidFill>
              <a:srgbClr val="E8F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9944" y="1307592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998B"/>
                </a:solidFill>
              </a:rPr>
              <a:t>VIDEO DATASET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1664208"/>
            <a:ext cx="50749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100-video source set with REAL and FAKE videos.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Sampled frames, detected/cropped faces and formed 16-frame sequences.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CNN input: 16 × 128 × 128 × 3.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sequence split: 80 train / 20 validation / 20 test.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43434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EAF2FB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4631436"/>
            <a:ext cx="18653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Face /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4920" y="43434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E8F6F3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4631436"/>
            <a:ext cx="18653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16-frame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sequence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43434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3E0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17152" y="4631436"/>
            <a:ext cx="18653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Model-ready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input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08960" y="4736592"/>
            <a:ext cx="1828800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78040" y="4736592"/>
            <a:ext cx="182880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Architectures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Spatial vs spatial-temporal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21615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CB0"/>
                </a:solidFill>
              </a:rPr>
              <a:t>BASIC CNN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1874520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011680"/>
            <a:ext cx="20939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128×128×3 Input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84832" y="2350008"/>
            <a:ext cx="0" cy="18288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0120" y="2560320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697480"/>
            <a:ext cx="20939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Conv / Pool blocks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84832" y="3035808"/>
            <a:ext cx="0" cy="18288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0120" y="3246120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383280"/>
            <a:ext cx="20939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Flatten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84832" y="3721608"/>
            <a:ext cx="0" cy="18288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" y="3931920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4069080"/>
            <a:ext cx="20939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Dense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84832" y="4407408"/>
            <a:ext cx="0" cy="18288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0120" y="4617720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FFF3E0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754880"/>
            <a:ext cx="20939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Sigmoid → REAL / FAKE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143000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E8F6F3"/>
          </a:solidFill>
          <a:ln w="12700">
            <a:solidFill>
              <a:srgbClr val="E8F6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1216152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998B"/>
                </a:solidFill>
              </a:rPr>
              <a:t>3D CNN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1755648"/>
            <a:ext cx="292608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1869948"/>
            <a:ext cx="27797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5D"/>
                </a:solidFill>
              </a:rPr>
              <a:t>16×128×128×3 Input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2185416"/>
            <a:ext cx="0" cy="128016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29400" y="2331720"/>
            <a:ext cx="292608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2446020"/>
            <a:ext cx="27797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5D"/>
                </a:solidFill>
              </a:rPr>
              <a:t>Conv3D + Pool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92440" y="2761488"/>
            <a:ext cx="0" cy="128016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29400" y="2907792"/>
            <a:ext cx="292608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3022092"/>
            <a:ext cx="27797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5D"/>
                </a:solidFill>
              </a:rPr>
              <a:t>Conv3D + Pool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3337560"/>
            <a:ext cx="0" cy="128016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29400" y="3483864"/>
            <a:ext cx="292608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3598164"/>
            <a:ext cx="27797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5D"/>
                </a:solidFill>
              </a:rPr>
              <a:t>Conv3D + Pool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92440" y="3913632"/>
            <a:ext cx="0" cy="128016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29400" y="4059936"/>
            <a:ext cx="292608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02552" y="4174236"/>
            <a:ext cx="27797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5D"/>
                </a:solidFill>
              </a:rPr>
              <a:t>Flatten / Dense / Dropout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92440" y="4489704"/>
            <a:ext cx="0" cy="128016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29400" y="4636008"/>
            <a:ext cx="2926080" cy="429768"/>
          </a:xfrm>
          <a:prstGeom prst="roundRect">
            <a:avLst>
              <a:gd name="adj" fmla="val 12766"/>
            </a:avLst>
          </a:prstGeom>
          <a:solidFill>
            <a:srgbClr val="FFF3E0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02552" y="4750308"/>
            <a:ext cx="27797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5D"/>
                </a:solidFill>
              </a:rPr>
              <a:t>Sigmoid → REAL / FAKE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0" y="59893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Key difference: the 3D CNN can learn across time, not just within a single face image.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&amp; Evaluation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What was measured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9601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53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785"/>
                </a:solidFill>
              </a:rPr>
              <a:t>Basic CNN test samples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719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B5D"/>
                </a:solidFill>
              </a:rPr>
              <a:t>398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71800" y="13258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1325880"/>
            <a:ext cx="73152" cy="9601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453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785"/>
                </a:solidFill>
              </a:rPr>
              <a:t>3D CNN test sequences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36392" y="1719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B5D"/>
                </a:solidFill>
              </a:rPr>
              <a:t>20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303520" y="13258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1325880"/>
            <a:ext cx="73152" cy="9601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8112" y="1453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785"/>
                </a:solidFill>
              </a:rPr>
              <a:t>Basic CNN input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68112" y="1719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B5D"/>
                </a:solidFill>
              </a:rPr>
              <a:t>128×128×3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35240" y="13258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1325880"/>
            <a:ext cx="73152" cy="9601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9832" y="1453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785"/>
                </a:solidFill>
              </a:rPr>
              <a:t>3D CNN input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99832" y="1719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B5D"/>
                </a:solidFill>
              </a:rPr>
              <a:t>16×128×128×3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966960" y="132588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1325880"/>
            <a:ext cx="73152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31552" y="1453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785"/>
                </a:solidFill>
              </a:rPr>
              <a:t>Overall winner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131552" y="1719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B5D"/>
                </a:solidFill>
              </a:rPr>
              <a:t>Basic CNN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85800" y="278892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2862072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CB0"/>
                </a:solidFill>
              </a:rPr>
              <a:t>EVALUATION METRICS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3101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Accuracy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419856"/>
            <a:ext cx="1371600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749040" y="33101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Basic CNN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3101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</a:rPr>
              <a:t>3D CNN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33101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Basic CNN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7947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Precision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331720" y="3904488"/>
            <a:ext cx="1371600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749040" y="37947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Basic CNN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37947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</a:rPr>
              <a:t>3D CNN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60920" y="3794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Basic CNN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4279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Recall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331720" y="4389120"/>
            <a:ext cx="1371600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749040" y="42793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Basic CNN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4279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</a:rPr>
              <a:t>3D CNN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60920" y="4279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</a:rPr>
              <a:t>3D CNN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47640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F1-score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331720" y="4873752"/>
            <a:ext cx="1371600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3749040" y="47640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Basic CNN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47640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</a:rPr>
              <a:t>3D CNN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60920" y="47640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</a:rPr>
              <a:t>3D CNN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52486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ROC-AUC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331720" y="5358384"/>
            <a:ext cx="1371600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3749040" y="52486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Basic CNN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69280" y="5248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</a:rPr>
              <a:t>3D CNN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360920" y="52486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Basic CNN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29600" y="3063240"/>
            <a:ext cx="297180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785"/>
                </a:solidFill>
              </a:rPr>
              <a:t>The two models use different test sample types and sizes, so this is a baseline comparison rather than a perfectly controlled apples-to-apples experiment.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Results — CNN vs 3D CNN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Verified Phase 10 metrics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828800" cy="502920"/>
          </a:xfrm>
          <a:prstGeom prst="rect">
            <a:avLst/>
          </a:prstGeom>
          <a:solidFill>
            <a:srgbClr val="123B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Metric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417320"/>
            <a:ext cx="1828800" cy="502920"/>
          </a:xfrm>
          <a:prstGeom prst="rect">
            <a:avLst/>
          </a:prstGeom>
          <a:solidFill>
            <a:srgbClr val="123B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5727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Basic CNN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1828800" cy="502920"/>
          </a:xfrm>
          <a:prstGeom prst="rect">
            <a:avLst/>
          </a:prstGeom>
          <a:solidFill>
            <a:srgbClr val="123B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5727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3D CNN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2377440" cy="502920"/>
          </a:xfrm>
          <a:prstGeom prst="rect">
            <a:avLst/>
          </a:prstGeom>
          <a:solidFill>
            <a:srgbClr val="123B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5727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Winner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1920240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396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Accuracy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1920240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1396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67.34%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1396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50.00%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0" y="1920240"/>
            <a:ext cx="23774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1396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</a:rPr>
              <a:t>Basic CNN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2578608"/>
            <a:ext cx="1828800" cy="658368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7980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Precision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2578608"/>
            <a:ext cx="1828800" cy="658368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27980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69.44%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2578608"/>
            <a:ext cx="1828800" cy="658368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7980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50.00%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0" y="2578608"/>
            <a:ext cx="2377440" cy="658368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</a:rPr>
              <a:t>Basic CNN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3236976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4564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Recall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0" y="3236976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4564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62.50%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3236976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4564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100.00%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0" y="3236976"/>
            <a:ext cx="23774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456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98B"/>
                </a:solidFill>
              </a:rPr>
              <a:t>3D CNN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1520" y="3895344"/>
            <a:ext cx="1828800" cy="658368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114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F1-score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743200" y="3895344"/>
            <a:ext cx="1828800" cy="658368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4114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65.79%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54880" y="3895344"/>
            <a:ext cx="1828800" cy="658368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114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66.67%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58000" y="3895344"/>
            <a:ext cx="2377440" cy="658368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98B"/>
                </a:solidFill>
              </a:rPr>
              <a:t>3D CNN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31520" y="4553712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773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ROC-AUC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743200" y="4553712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88920" y="4773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74.07%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754880" y="4553712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773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47.00%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858000" y="4553712"/>
            <a:ext cx="23774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03720" y="4773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</a:rPr>
              <a:t>Basic CNN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5623560"/>
            <a:ext cx="1028700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7280" y="5797296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5D"/>
                </a:solidFill>
              </a:rPr>
              <a:t>Overall baseline winner: BASIC CNN — stronger accuracy, precision and ROC-AUC.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Matrices &amp; Error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Where the models succeed and fail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B5D"/>
                </a:solidFill>
              </a:rPr>
              <a:t>Basic CNN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960120" cy="685800"/>
          </a:xfrm>
          <a:prstGeom prst="rect">
            <a:avLst/>
          </a:prstGeom>
          <a:solidFill>
            <a:srgbClr val="123B5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470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600200"/>
            <a:ext cx="960120" cy="685800"/>
          </a:xfrm>
          <a:prstGeom prst="rect">
            <a:avLst/>
          </a:prstGeom>
          <a:solidFill>
            <a:srgbClr val="123B5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56232" y="18470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 REAL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600200"/>
            <a:ext cx="960120" cy="685800"/>
          </a:xfrm>
          <a:prstGeom prst="rect">
            <a:avLst/>
          </a:prstGeom>
          <a:solidFill>
            <a:srgbClr val="123B5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18470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 FAKE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286000"/>
            <a:ext cx="960120" cy="685800"/>
          </a:xfrm>
          <a:prstGeom prst="rect">
            <a:avLst/>
          </a:prstGeom>
          <a:solidFill>
            <a:srgbClr val="123B5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328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Actual REAL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2286000"/>
            <a:ext cx="960120" cy="685800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25328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143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2286000"/>
            <a:ext cx="960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25328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55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2971800"/>
            <a:ext cx="960120" cy="685800"/>
          </a:xfrm>
          <a:prstGeom prst="rect">
            <a:avLst/>
          </a:prstGeom>
          <a:solidFill>
            <a:srgbClr val="123B5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2186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Actual FAKE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2971800"/>
            <a:ext cx="960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56232" y="32186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75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88920" y="2971800"/>
            <a:ext cx="960120" cy="685800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2186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</a:rPr>
              <a:t>TN 143  •  FP 55  •  FN 75  •  TP 125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B5D"/>
                </a:solidFill>
              </a:rPr>
              <a:t>3D CNN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669280" y="1600200"/>
            <a:ext cx="960120" cy="685800"/>
          </a:xfrm>
          <a:prstGeom prst="rect">
            <a:avLst/>
          </a:prstGeom>
          <a:solidFill>
            <a:srgbClr val="123B5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96712" y="18470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9400" y="1600200"/>
            <a:ext cx="960120" cy="685800"/>
          </a:xfrm>
          <a:prstGeom prst="rect">
            <a:avLst/>
          </a:prstGeom>
          <a:solidFill>
            <a:srgbClr val="123B5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18470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 REAL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9520" y="1600200"/>
            <a:ext cx="960120" cy="685800"/>
          </a:xfrm>
          <a:prstGeom prst="rect">
            <a:avLst/>
          </a:prstGeom>
          <a:solidFill>
            <a:srgbClr val="123B5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16952" y="18470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 FAKE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2286000"/>
            <a:ext cx="960120" cy="685800"/>
          </a:xfrm>
          <a:prstGeom prst="rect">
            <a:avLst/>
          </a:prstGeom>
          <a:solidFill>
            <a:srgbClr val="123B5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96712" y="25328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Actual REAL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29400" y="2286000"/>
            <a:ext cx="960120" cy="685800"/>
          </a:xfrm>
          <a:prstGeom prst="rect">
            <a:avLst/>
          </a:prstGeom>
          <a:solidFill>
            <a:srgbClr val="E8F6F3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25328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9520" y="2286000"/>
            <a:ext cx="960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16952" y="25328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0" y="2971800"/>
            <a:ext cx="960120" cy="685800"/>
          </a:xfrm>
          <a:prstGeom prst="rect">
            <a:avLst/>
          </a:prstGeom>
          <a:solidFill>
            <a:srgbClr val="123B5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96712" y="32186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Actual FAKE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29400" y="2971800"/>
            <a:ext cx="960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32186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89520" y="2971800"/>
            <a:ext cx="960120" cy="685800"/>
          </a:xfrm>
          <a:prstGeom prst="rect">
            <a:avLst/>
          </a:prstGeom>
          <a:solidFill>
            <a:srgbClr val="E8F6F3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16952" y="32186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3794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</a:rPr>
              <a:t>TN 0  •  FP 10  •  FN 0  •  TP 10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235440" y="123444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36024" y="13075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KEY FINDING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961120" y="1737360"/>
            <a:ext cx="251460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CNN makes both types of errors, indicating more balanced behavior.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CNN labels all test sequences as FAKE, so 100% recall is misleading.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video training diversity is needed for reliable temporal generalization.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Streamlit Application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User-facing deployment 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73936"/>
            <a:ext cx="12710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Upload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Image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5544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1773936"/>
            <a:ext cx="1453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Face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73936"/>
            <a:ext cx="1453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Basic CNN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E8F6F3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059936"/>
            <a:ext cx="12710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Upload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Video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38404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4059936"/>
            <a:ext cx="1453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16-frame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Sequence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34840" y="38404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E8F6F3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4059936"/>
            <a:ext cx="1453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3D CNN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26060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123B5D"/>
          </a:solidFill>
          <a:ln w="15240">
            <a:solidFill>
              <a:srgbClr val="123B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2939796"/>
            <a:ext cx="1819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REAL / FAKE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 Confidence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48840" y="1874520"/>
            <a:ext cx="246888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087368" y="1874520"/>
            <a:ext cx="274320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53328" y="1874520"/>
            <a:ext cx="1078992" cy="100584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148840" y="4160520"/>
            <a:ext cx="246888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87368" y="4160520"/>
            <a:ext cx="27432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53328" y="4160520"/>
            <a:ext cx="1078992" cy="-96012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15200" y="406908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4142232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USER-FRIENDLY FEATURES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4480560"/>
            <a:ext cx="36576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indicators during inference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error handling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/ clear control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Displays detected face and processing details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What should improve next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FCEDEC"/>
          </a:solidFill>
          <a:ln w="12700">
            <a:solidFill>
              <a:srgbClr val="FCED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30759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</a:rPr>
              <a:t>CURRENT LIMITATIONS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52120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CNN training set is small: 80 training sequences.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CNN currently collapses to the FAKE class on the test set.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vs 3D CNN uses different test sample types and sizes.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values from the current 3D CNN should be treated cautiously.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234440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E8F6F3"/>
          </a:solidFill>
          <a:ln w="12700">
            <a:solidFill>
              <a:srgbClr val="E8F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664" y="130759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998B"/>
                </a:solidFill>
              </a:rPr>
              <a:t>FUTURE SCOPE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51206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the number of independent source videos and temporal sequences.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stronger sequence generation with multiple windows per video.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transfer learning or pretrained video models.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decision thresholds and calibrate confidence scores.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on a larger held-out benchmark with matched test protocols.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51560" y="461772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EAF2FB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4846320"/>
            <a:ext cx="13624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More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4680" y="461772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E8F6F3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4846320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Better temporal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461772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FF3E0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4846320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Better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generalization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18120" y="4617720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123B5D"/>
          </a:solidFill>
          <a:ln w="15240">
            <a:solidFill>
              <a:srgbClr val="123B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4846320"/>
            <a:ext cx="21854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More reliable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deepfake detection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4946904"/>
            <a:ext cx="457200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4946904"/>
            <a:ext cx="548640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4946904"/>
            <a:ext cx="502920" cy="0"/>
          </a:xfrm>
          <a:prstGeom prst="line">
            <a:avLst/>
          </a:prstGeom>
          <a:noFill/>
          <a:ln w="25400">
            <a:solidFill>
              <a:srgbClr val="6B7785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Completion &amp; Demo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Phase 10H — Presentation readiness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441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5D"/>
                </a:solidFill>
              </a:rPr>
              <a:t>System 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13441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Image CNN + 3D CNN + Streamlit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2082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848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391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5D"/>
                </a:solidFill>
              </a:rPr>
              <a:t>Dataset &amp; preprocessing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203911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Image faces + 16-frame video sequences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7157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7977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734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5D"/>
                </a:solidFill>
              </a:rPr>
              <a:t>Results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273405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Accuracy / Precision / Recall / F1 / ROC-AUC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7472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429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5D"/>
                </a:solidFill>
              </a:rPr>
              <a:t>Confusion matrices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34290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Basic CNN + 3D CNN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1056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69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1239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5D"/>
                </a:solidFill>
              </a:rPr>
              <a:t>Application demo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412394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Image upload + video upload + confidence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8006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86460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4818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5D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49040" y="481888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Current 3D CNN baseline documented honestly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98280" y="1371600"/>
            <a:ext cx="2103120" cy="3474720"/>
          </a:xfrm>
          <a:prstGeom prst="roundRect">
            <a:avLst>
              <a:gd name="adj" fmla="val 3478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DEMO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281160" y="2377440"/>
            <a:ext cx="17373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CE8F2"/>
                </a:solidFill>
              </a:rPr>
              <a:t>1. Select Image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F2"/>
                </a:solidFill>
              </a:rPr>
              <a:t>2. Upload face image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F2"/>
                </a:solidFill>
              </a:rPr>
              <a:t>3. View REAL / FAKE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F2"/>
                </a:solidFill>
              </a:rPr>
              <a:t>4. Switch to Video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F2"/>
                </a:solidFill>
              </a:rPr>
              <a:t>5. Upload video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F2"/>
                </a:solidFill>
              </a:rPr>
              <a:t>6. View sequence details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F2"/>
                </a:solidFill>
              </a:rPr>
              <a:t>7. View prediction + confidence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234440" y="5806440"/>
            <a:ext cx="969264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59710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5D"/>
                </a:solidFill>
              </a:rPr>
              <a:t>STREESHIELD is functionally complete; the Basic CNN is the stronger current baseline.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258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205740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8F2"/>
                </a:solidFill>
              </a:rPr>
              <a:t>STREESHIELD — Deepfake Detection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2542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AD9"/>
                </a:solidFill>
              </a:rPr>
              <a:t>Image-based CNN • Video-based 3D CNN • Streamlit 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37033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895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Key takeaway: the Basic CNN is the stronger current baseline; the 3D CNN is the next improvement target.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56692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E0E9"/>
                </a:solidFill>
              </a:rPr>
              <a:t>Project status: Phase 10H — Presentation prepared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STREESHIELD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STREESHIELD — Deepfake Detection System</dc:title>
  <dc:subject>Deepfake Detection Project Presentation</dc:subject>
  <dc:creator>STREESHIELD</dc:creator>
  <cp:lastModifiedBy>STREESHIELD</cp:lastModifiedBy>
  <cp:revision>1</cp:revision>
  <dcterms:created xsi:type="dcterms:W3CDTF">2026-08-26T07:25:30Z</dcterms:created>
  <dcterms:modified xsi:type="dcterms:W3CDTF">2026-08-26T07:25:30Z</dcterms:modified>
</cp:coreProperties>
</file>